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8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1745670"/>
            <a:ext cx="483098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3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FRONTEND-ONLY PRODUCT ARCHITECTURE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4350" y="1995701"/>
            <a:ext cx="4830989" cy="95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3500" b="1" spc="-3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Static React App Architecture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14350" y="3076361"/>
            <a:ext cx="4830989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frictionless, privacy-first frontend built entirely through LLM prompting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16926" y="1585913"/>
            <a:ext cx="785813" cy="700088"/>
          </a:xfrm>
          <a:prstGeom prst="rect">
            <a:avLst/>
          </a:prstGeom>
          <a:solidFill>
            <a:srgbClr val="07111F">
              <a:alpha val="84000"/>
            </a:srgbClr>
          </a:solidFill>
          <a:ln w="9144">
            <a:solidFill>
              <a:srgbClr val="00D9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16926" y="1855589"/>
            <a:ext cx="3196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React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936609" y="1782366"/>
            <a:ext cx="45184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Static App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45389" y="2471738"/>
            <a:ext cx="785813" cy="700088"/>
          </a:xfrm>
          <a:prstGeom prst="rect">
            <a:avLst/>
          </a:prstGeom>
          <a:solidFill>
            <a:srgbClr val="07111F">
              <a:alpha val="84000"/>
            </a:srgbClr>
          </a:solidFill>
          <a:ln w="9144">
            <a:solidFill>
              <a:srgbClr val="5CFFB1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9499" y="2741414"/>
            <a:ext cx="2964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Local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65965" y="2741414"/>
            <a:ext cx="4268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Session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481320" y="2471738"/>
            <a:ext cx="785813" cy="700088"/>
          </a:xfrm>
          <a:prstGeom prst="rect">
            <a:avLst/>
          </a:prstGeom>
          <a:solidFill>
            <a:srgbClr val="07111F">
              <a:alpha val="84000"/>
            </a:srgbClr>
          </a:solidFill>
          <a:ln w="9144">
            <a:solidFill>
              <a:srgbClr val="00D9FF">
                <a:alpha val="6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06323" y="2741414"/>
            <a:ext cx="1964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100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702776" y="2741414"/>
            <a:ext cx="5536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Questions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616926" y="3257550"/>
            <a:ext cx="785813" cy="700088"/>
          </a:xfrm>
          <a:prstGeom prst="rect">
            <a:avLst/>
          </a:prstGeom>
          <a:solidFill>
            <a:srgbClr val="07111F">
              <a:alpha val="84000"/>
            </a:srgbClr>
          </a:solidFill>
          <a:ln w="9144">
            <a:solidFill>
              <a:srgbClr val="5CFFB1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6749" y="3541514"/>
            <a:ext cx="3232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Replit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50004" y="3541514"/>
            <a:ext cx="4286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Hosting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35756"/>
            <a:ext cx="82296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 OVERVIEW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44711"/>
            <a:ext cx="8229600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Architecture at a Glance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931171"/>
            <a:ext cx="621506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complete product experience delivered as a static React frontend with no runtime server dependency.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638402"/>
            <a:ext cx="1939528" cy="1741847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638402"/>
            <a:ext cx="1939528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3373106"/>
            <a:ext cx="1939528" cy="7144"/>
          </a:xfrm>
          <a:prstGeom prst="rect">
            <a:avLst/>
          </a:prstGeom>
          <a:solidFill>
            <a:srgbClr val="B8F4F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795565"/>
            <a:ext cx="193952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2070599"/>
            <a:ext cx="150018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Fully static frontend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2574234"/>
            <a:ext cx="1714500" cy="50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React app contains the complete interface and application logic.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82428" y="1874146"/>
            <a:ext cx="257175" cy="14288"/>
          </a:xfrm>
          <a:prstGeom prst="rect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553891" y="1638402"/>
            <a:ext cx="1939528" cy="1741847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553891" y="1638402"/>
            <a:ext cx="1939528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15" name="Shape 12"/>
          <p:cNvSpPr/>
          <p:nvPr/>
        </p:nvSpPr>
        <p:spPr>
          <a:xfrm>
            <a:off x="2553891" y="3373106"/>
            <a:ext cx="1939528" cy="7144"/>
          </a:xfrm>
          <a:prstGeom prst="rect">
            <a:avLst/>
          </a:prstGeom>
          <a:solidFill>
            <a:srgbClr val="B8F4FF"/>
          </a:solidFill>
          <a:ln/>
        </p:spPr>
      </p:sp>
      <p:sp>
        <p:nvSpPr>
          <p:cNvPr id="16" name="Text 13"/>
          <p:cNvSpPr/>
          <p:nvPr/>
        </p:nvSpPr>
        <p:spPr>
          <a:xfrm>
            <a:off x="2553891" y="1795565"/>
            <a:ext cx="193952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53891" y="2070599"/>
            <a:ext cx="150018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Built through prompting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553891" y="2574234"/>
            <a:ext cx="1714500" cy="67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development workflow stays lightweight because the app is produced via LLM prompting.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79119" y="1874146"/>
            <a:ext cx="257175" cy="14288"/>
          </a:xfrm>
          <a:prstGeom prst="rect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650581" y="1638402"/>
            <a:ext cx="1939528" cy="1728788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650581" y="1638402"/>
            <a:ext cx="1939528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650581" y="3360046"/>
            <a:ext cx="1939528" cy="7144"/>
          </a:xfrm>
          <a:prstGeom prst="rect">
            <a:avLst/>
          </a:prstGeom>
          <a:solidFill>
            <a:srgbClr val="B8F4FF"/>
          </a:solidFill>
          <a:ln/>
        </p:spPr>
      </p:sp>
      <p:sp>
        <p:nvSpPr>
          <p:cNvPr id="23" name="Text 20"/>
          <p:cNvSpPr/>
          <p:nvPr/>
        </p:nvSpPr>
        <p:spPr>
          <a:xfrm>
            <a:off x="4650581" y="1795565"/>
            <a:ext cx="193952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50581" y="2070599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Hosted as assets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650581" y="2386710"/>
            <a:ext cx="1714500" cy="50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Replit static hosting serves the bundled application directly to each visitor.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75809" y="1874146"/>
            <a:ext cx="257175" cy="14288"/>
          </a:xfrm>
          <a:prstGeom prst="rect">
            <a:avLst/>
          </a:prstGeom>
          <a:solidFill>
            <a:srgbClr val="00D9FF">
              <a:alpha val="7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747272" y="1638402"/>
            <a:ext cx="1939528" cy="1728788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747272" y="1638402"/>
            <a:ext cx="1939528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29" name="Shape 26"/>
          <p:cNvSpPr/>
          <p:nvPr/>
        </p:nvSpPr>
        <p:spPr>
          <a:xfrm>
            <a:off x="6747272" y="3360046"/>
            <a:ext cx="1939528" cy="7144"/>
          </a:xfrm>
          <a:prstGeom prst="rect">
            <a:avLst/>
          </a:prstGeom>
          <a:solidFill>
            <a:srgbClr val="B8F4FF"/>
          </a:solidFill>
          <a:ln/>
        </p:spPr>
      </p:sp>
      <p:sp>
        <p:nvSpPr>
          <p:cNvPr id="30" name="Text 27"/>
          <p:cNvSpPr/>
          <p:nvPr/>
        </p:nvSpPr>
        <p:spPr>
          <a:xfrm>
            <a:off x="6747272" y="1795565"/>
            <a:ext cx="193952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747272" y="2070599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Low overhead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747272" y="2386710"/>
            <a:ext cx="1714500" cy="50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backend, database, or API infrastructure needs to be operated.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3749939"/>
            <a:ext cx="6643688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idea:</a:t>
            </a:r>
            <a:r>
              <a:rPr lang="en-US" sz="13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static delivery turns infrastructure simplicity into a product </a:t>
            </a:r>
            <a:r>
              <a:rPr lang="en-US" sz="13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advantage.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532861" y="3891028"/>
            <a:ext cx="11539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00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/ STATIC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42900"/>
            <a:ext cx="82010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BACKEND-FREE MODEL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71488" y="551855"/>
            <a:ext cx="8201025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Backend-Free by Design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71488" y="1402659"/>
            <a:ext cx="3360548" cy="3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93AFC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Complexity intentionally removed from the runtime system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1488" y="1996985"/>
            <a:ext cx="21431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0100" y="1996985"/>
            <a:ext cx="3031936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 capacity planning and request queues.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1488" y="2341671"/>
            <a:ext cx="21431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×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" y="2341671"/>
            <a:ext cx="3031936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contention, migrations, and storage operations.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1488" y="2831688"/>
            <a:ext cx="21431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×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0100" y="2831688"/>
            <a:ext cx="3031936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External API reliability and integration monitoring.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17798" y="1209777"/>
            <a:ext cx="4454714" cy="2586038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217798" y="1209777"/>
            <a:ext cx="4454714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4" name="Text 11"/>
          <p:cNvSpPr/>
          <p:nvPr/>
        </p:nvSpPr>
        <p:spPr>
          <a:xfrm>
            <a:off x="4217798" y="1381227"/>
            <a:ext cx="4000500" cy="74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60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absence of backend infrastructure becomes an operating advantage.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17798" y="2316528"/>
            <a:ext cx="10358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LOGIC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10805" y="2307599"/>
            <a:ext cx="3261708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Interactions are handled directly inside the React frontend.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17798" y="2831995"/>
            <a:ext cx="10358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10805" y="2823065"/>
            <a:ext cx="3261708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Fewer moving parts reduce the number of places the experience can fail.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217798" y="3347461"/>
            <a:ext cx="10358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10805" y="3338531"/>
            <a:ext cx="3261708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avoids server, database, and API administration.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1488" y="4262837"/>
            <a:ext cx="584180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 stance:</a:t>
            </a:r>
            <a:r>
              <a:rPr lang="en-US" sz="13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less infrastructure means more predictable delivery.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28613"/>
            <a:ext cx="82010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EMBEDDED CONTENT MODEL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71488" y="537567"/>
            <a:ext cx="8201025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Questions Live in the App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71488" y="924027"/>
            <a:ext cx="60721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complete question set ships with the frontend, making the experience immediately available without network lookups.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1488" y="1609827"/>
            <a:ext cx="3698677" cy="2736056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1488" y="1609827"/>
            <a:ext cx="3698677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Shape 5"/>
          <p:cNvSpPr/>
          <p:nvPr/>
        </p:nvSpPr>
        <p:spPr>
          <a:xfrm>
            <a:off x="471488" y="4338740"/>
            <a:ext cx="3698677" cy="7144"/>
          </a:xfrm>
          <a:prstGeom prst="rect">
            <a:avLst/>
          </a:prstGeom>
          <a:solidFill>
            <a:srgbClr val="ADF3FF"/>
          </a:solidFill>
          <a:ln/>
        </p:spPr>
      </p:sp>
      <p:sp>
        <p:nvSpPr>
          <p:cNvPr id="9" name="Text 6"/>
          <p:cNvSpPr/>
          <p:nvPr/>
        </p:nvSpPr>
        <p:spPr>
          <a:xfrm>
            <a:off x="471488" y="1813424"/>
            <a:ext cx="36986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2" kern="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HARDCODED FRONTEND INVENTORY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1488" y="2268838"/>
            <a:ext cx="3698677" cy="847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8800"/>
              </a:lnSpc>
              <a:buNone/>
            </a:pPr>
            <a:r>
              <a:rPr lang="en-US" sz="7150" b="1" spc="-9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100</a:t>
            </a:r>
            <a:r>
              <a:rPr lang="en-US" sz="7150" b="1" spc="-9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7150" dirty="0"/>
          </a:p>
        </p:txBody>
      </p:sp>
      <p:sp>
        <p:nvSpPr>
          <p:cNvPr id="11" name="Text 8"/>
          <p:cNvSpPr/>
          <p:nvPr/>
        </p:nvSpPr>
        <p:spPr>
          <a:xfrm>
            <a:off x="471488" y="3273819"/>
            <a:ext cx="3071813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 bundled directly into the React application code.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1488" y="3881038"/>
            <a:ext cx="842963" cy="205383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STATIC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443038" y="3881038"/>
            <a:ext cx="842963" cy="205383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BUNDLED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414588" y="3881038"/>
            <a:ext cx="842963" cy="205383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84502" y="1850929"/>
            <a:ext cx="11001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70377" y="1831284"/>
            <a:ext cx="2802136" cy="576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 can access the content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immediately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because no request has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fetch the questions.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84502" y="2736754"/>
            <a:ext cx="11001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STABLE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70377" y="2717109"/>
            <a:ext cx="2802136" cy="576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fixed content bundle keeps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sessions predictable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across visits and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84502" y="3622579"/>
            <a:ext cx="11001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70377" y="3602934"/>
            <a:ext cx="2802136" cy="576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app avoids databases, external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APIs, and third-party services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</a:t>
            </a:r>
            <a:r>
              <a:rPr lang="en-US" sz="11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delivery.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1488" y="4638777"/>
            <a:ext cx="6429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Product effect:</a:t>
            </a:r>
            <a:r>
              <a:rPr lang="en-US" sz="12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quiz experience starts as soon as the static frontend </a:t>
            </a:r>
            <a:r>
              <a:rPr lang="en-US" sz="12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82467" y="4775402"/>
            <a:ext cx="139004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2" kern="0" dirty="0">
                <a:solidFill>
                  <a:srgbClr val="00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BACKEND FETCH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8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28613"/>
            <a:ext cx="82010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SCALING AND TRAFFIC MODEL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71488" y="537567"/>
            <a:ext cx="8201025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Infinite Sessions, Static Limits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71488" y="924027"/>
            <a:ext cx="6572250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Static delivery lets each visitor run an independent browser session, while practical traffic capacity remains bounded by Replit’s static hosting limits.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1488" y="1601232"/>
            <a:ext cx="2571750" cy="2767505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1488" y="1601232"/>
            <a:ext cx="2571750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Shape 5"/>
          <p:cNvSpPr/>
          <p:nvPr/>
        </p:nvSpPr>
        <p:spPr>
          <a:xfrm>
            <a:off x="471488" y="4361594"/>
            <a:ext cx="2571750" cy="7144"/>
          </a:xfrm>
          <a:prstGeom prst="rect">
            <a:avLst/>
          </a:prstGeom>
          <a:solidFill>
            <a:srgbClr val="A8F2FF"/>
          </a:solidFill>
          <a:ln/>
        </p:spPr>
      </p:sp>
      <p:sp>
        <p:nvSpPr>
          <p:cNvPr id="9" name="Text 6"/>
          <p:cNvSpPr/>
          <p:nvPr/>
        </p:nvSpPr>
        <p:spPr>
          <a:xfrm>
            <a:off x="471488" y="1815545"/>
            <a:ext cx="25717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STATIC BUNDLE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1488" y="2122726"/>
            <a:ext cx="2143125" cy="76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7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hosted app, many local sessions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71488" y="3044968"/>
            <a:ext cx="2214563" cy="699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React assets are served once per visit; user interaction then runs in the browser rather than on a backend server.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1488" y="3987273"/>
            <a:ext cx="25717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 backend compute per interaction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29000" y="2063344"/>
            <a:ext cx="1171575" cy="1274992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429000" y="2063344"/>
            <a:ext cx="1171575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014788" y="1813313"/>
            <a:ext cx="14288" cy="250031"/>
          </a:xfrm>
          <a:prstGeom prst="rect">
            <a:avLst/>
          </a:prstGeom>
          <a:solidFill>
            <a:srgbClr val="00D9FF">
              <a:alpha val="72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0" y="2206219"/>
            <a:ext cx="11715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 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429000" y="2458036"/>
            <a:ext cx="1171575" cy="16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10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Local browser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29000" y="2727768"/>
            <a:ext cx="1171575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Progress and state stay inside the current session.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86313" y="2063344"/>
            <a:ext cx="1171575" cy="1274992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786313" y="2063344"/>
            <a:ext cx="1171575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372100" y="1816884"/>
            <a:ext cx="14288" cy="250031"/>
          </a:xfrm>
          <a:prstGeom prst="rect">
            <a:avLst/>
          </a:prstGeom>
          <a:solidFill>
            <a:srgbClr val="00D9FF">
              <a:alpha val="7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786313" y="2209791"/>
            <a:ext cx="11715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 B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86313" y="2461608"/>
            <a:ext cx="1171575" cy="16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10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Local browser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86313" y="2731340"/>
            <a:ext cx="1171575" cy="6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Another independent session uses the same static app.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143625" y="2066916"/>
            <a:ext cx="1171575" cy="1267848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143625" y="2066916"/>
            <a:ext cx="1171575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27" name="Shape 24"/>
          <p:cNvSpPr/>
          <p:nvPr/>
        </p:nvSpPr>
        <p:spPr>
          <a:xfrm>
            <a:off x="6729413" y="1816884"/>
            <a:ext cx="14288" cy="250031"/>
          </a:xfrm>
          <a:prstGeom prst="rect">
            <a:avLst/>
          </a:prstGeom>
          <a:solidFill>
            <a:srgbClr val="00D9FF">
              <a:alpha val="7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143625" y="2209791"/>
            <a:ext cx="11715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 C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43625" y="2461608"/>
            <a:ext cx="1171575" cy="16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10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Local browser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43625" y="2731340"/>
            <a:ext cx="1171575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shared database or server-side session is required.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500938" y="2066916"/>
            <a:ext cx="1171575" cy="1267848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500938" y="2066916"/>
            <a:ext cx="1171575" cy="7144"/>
          </a:xfrm>
          <a:prstGeom prst="rect">
            <a:avLst/>
          </a:prstGeom>
          <a:solidFill>
            <a:srgbClr val="4DE4FF"/>
          </a:solidFill>
          <a:ln/>
        </p:spPr>
      </p:sp>
      <p:sp>
        <p:nvSpPr>
          <p:cNvPr id="33" name="Shape 30"/>
          <p:cNvSpPr/>
          <p:nvPr/>
        </p:nvSpPr>
        <p:spPr>
          <a:xfrm>
            <a:off x="8086725" y="1816884"/>
            <a:ext cx="14288" cy="250031"/>
          </a:xfrm>
          <a:prstGeom prst="rect">
            <a:avLst/>
          </a:prstGeom>
          <a:solidFill>
            <a:srgbClr val="00D9FF">
              <a:alpha val="72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500938" y="2209791"/>
            <a:ext cx="11715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 N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500938" y="2461608"/>
            <a:ext cx="1171575" cy="16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10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Local browser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500938" y="2731340"/>
            <a:ext cx="1171575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Concurrency scales with static hosting capacity.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429000" y="3627658"/>
            <a:ext cx="25003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HIGH CONCURRENCY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429000" y="3840184"/>
            <a:ext cx="250031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Visitors do not compete for backend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429000" y="4064487"/>
            <a:ext cx="250031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 resources.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172200" y="3627658"/>
            <a:ext cx="25003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HOSTING BOUNDARY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172200" y="3840184"/>
            <a:ext cx="250031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realistic ceiling is the static host’s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172200" y="4064487"/>
            <a:ext cx="250031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delivery limit.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71488" y="4677649"/>
            <a:ext cx="6429375" cy="425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2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Scaling principle:</a:t>
            </a:r>
            <a:r>
              <a:rPr lang="en-US" sz="12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sessions multiply in the browser; infrastructure remains </a:t>
            </a:r>
            <a:r>
              <a:rPr lang="en-US" sz="12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static and lightweight.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580802" y="4812543"/>
            <a:ext cx="10917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2" kern="0" dirty="0">
                <a:solidFill>
                  <a:srgbClr val="00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STATIC / LOCAL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1469"/>
            <a:ext cx="82296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CFFB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USER EXPERIENCE PRINCIPLE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57200" y="530423"/>
            <a:ext cx="8229600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Zero-Friction User Experience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916884"/>
            <a:ext cx="6286500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no-login model removes onboarding gates so users can move directly from arrival to interaction.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679814"/>
            <a:ext cx="8229600" cy="2243138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679814"/>
            <a:ext cx="8229600" cy="7144"/>
          </a:xfrm>
          <a:prstGeom prst="rect">
            <a:avLst/>
          </a:prstGeom>
          <a:solidFill>
            <a:srgbClr val="70EAFF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3915807"/>
            <a:ext cx="8229600" cy="7144"/>
          </a:xfrm>
          <a:prstGeom prst="rect">
            <a:avLst/>
          </a:prstGeom>
          <a:solidFill>
            <a:srgbClr val="B8F4FF"/>
          </a:solidFill>
          <a:ln/>
        </p:spPr>
      </p:sp>
      <p:sp>
        <p:nvSpPr>
          <p:cNvPr id="9" name="Shape 6"/>
          <p:cNvSpPr/>
          <p:nvPr/>
        </p:nvSpPr>
        <p:spPr>
          <a:xfrm>
            <a:off x="728663" y="2472770"/>
            <a:ext cx="528638" cy="528638"/>
          </a:xfrm>
          <a:prstGeom prst="rect">
            <a:avLst/>
          </a:prstGeom>
          <a:solidFill>
            <a:srgbClr val="07111F"/>
          </a:solidFill>
          <a:ln w="18288">
            <a:solidFill>
              <a:srgbClr val="5CFF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8663" y="2472770"/>
            <a:ext cx="528638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57525" y="2472770"/>
            <a:ext cx="528638" cy="528638"/>
          </a:xfrm>
          <a:prstGeom prst="rect">
            <a:avLst/>
          </a:prstGeom>
          <a:solidFill>
            <a:srgbClr val="07111F"/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57525" y="2472770"/>
            <a:ext cx="528638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86388" y="2472770"/>
            <a:ext cx="528638" cy="528638"/>
          </a:xfrm>
          <a:prstGeom prst="rect">
            <a:avLst/>
          </a:prstGeom>
          <a:solidFill>
            <a:srgbClr val="07111F"/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86388" y="2472770"/>
            <a:ext cx="528638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15250" y="2472770"/>
            <a:ext cx="528638" cy="528638"/>
          </a:xfrm>
          <a:prstGeom prst="rect">
            <a:avLst/>
          </a:prstGeom>
          <a:solidFill>
            <a:srgbClr val="07111F"/>
          </a:solidFill>
          <a:ln w="18288">
            <a:solidFill>
              <a:srgbClr val="5CFF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15250" y="2472770"/>
            <a:ext cx="528638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8663" y="1879839"/>
            <a:ext cx="17502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Arrive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28663" y="2172732"/>
            <a:ext cx="1750219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 account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password, or 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setup step blocks the first 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057525" y="1879839"/>
            <a:ext cx="17502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Start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057525" y="2172732"/>
            <a:ext cx="1750219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Fast first interaction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because 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static app is immediately 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usable.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386388" y="1879839"/>
            <a:ext cx="17502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Continue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386388" y="2172732"/>
            <a:ext cx="1750219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Lower abandonment risk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through a shorter path into 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product.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186613" y="1879839"/>
            <a:ext cx="1500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250" b="1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Return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186613" y="2172732"/>
            <a:ext cx="1500188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Accessible by default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casual, one-time, or </a:t>
            </a:r>
            <a:r>
              <a:rPr lang="en-US" sz="9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repeat users.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129338" y="3194289"/>
            <a:ext cx="2357438" cy="5286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129338" y="3194289"/>
            <a:ext cx="2357438" cy="14288"/>
          </a:xfrm>
          <a:prstGeom prst="rect">
            <a:avLst/>
          </a:prstGeom>
          <a:solidFill>
            <a:srgbClr val="5CFFB1"/>
          </a:solidFill>
          <a:ln/>
        </p:spPr>
      </p:sp>
      <p:sp>
        <p:nvSpPr>
          <p:cNvPr id="27" name="Text 24"/>
          <p:cNvSpPr/>
          <p:nvPr/>
        </p:nvSpPr>
        <p:spPr>
          <a:xfrm>
            <a:off x="6129338" y="3279735"/>
            <a:ext cx="2357438" cy="37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50" b="1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Result:</a:t>
            </a:r>
            <a:r>
              <a:rPr lang="en-US" sz="11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less friction before value </a:t>
            </a:r>
            <a:r>
              <a:rPr lang="en-US" sz="11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delivered.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4344432"/>
            <a:ext cx="2571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ENTRY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4562317"/>
            <a:ext cx="2571750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 begin immediately without registration or onboarding gates.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286125" y="4344432"/>
            <a:ext cx="2571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MOMENTUM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286125" y="4562317"/>
            <a:ext cx="2571750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experience prioritizes direct action over administrative setup.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115050" y="4344432"/>
            <a:ext cx="25717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REACH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115050" y="4562317"/>
            <a:ext cx="2571750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simple path supports occasional users as well as repeat visitors.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28613"/>
            <a:ext cx="82010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5CFF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PRIVACY MODEL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71488" y="537567"/>
            <a:ext cx="8201025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Privacy Stays Local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71488" y="924027"/>
            <a:ext cx="6286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Responses remain inside the browser session instead of being collected by backend infrastructure.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1488" y="1624115"/>
            <a:ext cx="4102996" cy="2743200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1488" y="1624115"/>
            <a:ext cx="4102996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Shape 5"/>
          <p:cNvSpPr/>
          <p:nvPr/>
        </p:nvSpPr>
        <p:spPr>
          <a:xfrm>
            <a:off x="471488" y="1838427"/>
            <a:ext cx="3657600" cy="1728788"/>
          </a:xfrm>
          <a:prstGeom prst="rect">
            <a:avLst/>
          </a:prstGeom>
          <a:solidFill>
            <a:srgbClr val="07111F">
              <a:alpha val="74000"/>
            </a:srgbClr>
          </a:solidFill>
          <a:ln w="9144">
            <a:solidFill>
              <a:srgbClr val="00D9FF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7281" y="1925045"/>
            <a:ext cx="170964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BROWSER SESSION BOUNDARY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4375" y="2345634"/>
            <a:ext cx="942975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Progress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785938" y="2345634"/>
            <a:ext cx="942975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Answers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857500" y="2345634"/>
            <a:ext cx="942975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AF6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State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14375" y="3174309"/>
            <a:ext cx="34004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CONTAINED LOCALLY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1488" y="3767240"/>
            <a:ext cx="3643313" cy="4786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71488" y="3767240"/>
            <a:ext cx="3643313" cy="7144"/>
          </a:xfrm>
          <a:prstGeom prst="rect">
            <a:avLst/>
          </a:prstGeom>
          <a:solidFill>
            <a:srgbClr val="74FFBD"/>
          </a:solidFill>
          <a:ln/>
        </p:spPr>
      </p:sp>
      <p:sp>
        <p:nvSpPr>
          <p:cNvPr id="16" name="Text 13"/>
          <p:cNvSpPr/>
          <p:nvPr/>
        </p:nvSpPr>
        <p:spPr>
          <a:xfrm>
            <a:off x="471488" y="3920830"/>
            <a:ext cx="10572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 CLOSE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85925" y="3833264"/>
            <a:ext cx="2428875" cy="33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data is wiped when the browser session ends.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60246" y="1816996"/>
            <a:ext cx="3357563" cy="74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6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Privacy is built into the architecture, not added afterward.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60246" y="2752297"/>
            <a:ext cx="942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74671" y="2743367"/>
            <a:ext cx="2597814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progress and responses stay in the browser session.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60246" y="3296338"/>
            <a:ext cx="942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SILENT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74671" y="3287409"/>
            <a:ext cx="2597814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answers are sent to a server, database, or external API.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60246" y="3840380"/>
            <a:ext cx="942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74671" y="3831450"/>
            <a:ext cx="2597814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reduces exposure by avoiding unnecessary data handling.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1488" y="4788796"/>
            <a:ext cx="59989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Trust through simplicity:</a:t>
            </a:r>
            <a:r>
              <a:rPr lang="en-US" sz="12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less data movement means fewer privacy risks.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4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28613"/>
            <a:ext cx="82010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CFFB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CONTENT CLARITY UPGRADE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1488" y="537567"/>
            <a:ext cx="8201025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Readability Was Restructured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71488" y="924027"/>
            <a:ext cx="6286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Dense explanation was converted into structured, scannable points with clear emphasis and stronger presentation flow.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1488" y="1366940"/>
            <a:ext cx="3601566" cy="2641402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1488" y="1366940"/>
            <a:ext cx="3601566" cy="7144"/>
          </a:xfrm>
          <a:prstGeom prst="rect">
            <a:avLst/>
          </a:prstGeom>
          <a:solidFill>
            <a:srgbClr val="BCCDDB"/>
          </a:solidFill>
          <a:ln/>
        </p:spPr>
      </p:sp>
      <p:sp>
        <p:nvSpPr>
          <p:cNvPr id="8" name="Shape 5"/>
          <p:cNvSpPr/>
          <p:nvPr/>
        </p:nvSpPr>
        <p:spPr>
          <a:xfrm>
            <a:off x="471488" y="4001198"/>
            <a:ext cx="3601566" cy="7144"/>
          </a:xfrm>
          <a:prstGeom prst="rect">
            <a:avLst/>
          </a:prstGeom>
          <a:solidFill>
            <a:srgbClr val="E7EDF2"/>
          </a:solidFill>
          <a:ln/>
        </p:spPr>
      </p:sp>
      <p:sp>
        <p:nvSpPr>
          <p:cNvPr id="9" name="Text 6"/>
          <p:cNvSpPr/>
          <p:nvPr/>
        </p:nvSpPr>
        <p:spPr>
          <a:xfrm>
            <a:off x="471488" y="1538390"/>
            <a:ext cx="360156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93AFC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BEFORE: DENSE TEXT BLOCK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71488" y="1875932"/>
            <a:ext cx="3143250" cy="1614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1488" y="1875932"/>
            <a:ext cx="3143250" cy="7144"/>
          </a:xfrm>
          <a:prstGeom prst="rect">
            <a:avLst/>
          </a:prstGeom>
          <a:solidFill>
            <a:srgbClr val="D8E2EA"/>
          </a:solidFill>
          <a:ln/>
        </p:spPr>
      </p:sp>
      <p:sp>
        <p:nvSpPr>
          <p:cNvPr id="12" name="Shape 9"/>
          <p:cNvSpPr/>
          <p:nvPr/>
        </p:nvSpPr>
        <p:spPr>
          <a:xfrm>
            <a:off x="471488" y="3483276"/>
            <a:ext cx="3143250" cy="7144"/>
          </a:xfrm>
          <a:prstGeom prst="rect">
            <a:avLst/>
          </a:prstGeom>
          <a:solidFill>
            <a:srgbClr val="E5ECF1"/>
          </a:solidFill>
          <a:ln/>
        </p:spPr>
      </p:sp>
      <p:sp>
        <p:nvSpPr>
          <p:cNvPr id="13" name="Text 10"/>
          <p:cNvSpPr/>
          <p:nvPr/>
        </p:nvSpPr>
        <p:spPr>
          <a:xfrm>
            <a:off x="471488" y="2310864"/>
            <a:ext cx="2928938" cy="730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50" dirty="0">
                <a:solidFill>
                  <a:srgbClr val="93AFC5">
                    <a:alpha val="7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Architecture, data storage, scaling, privacy, and user flow were previously compressed into a single continuous explanation, making the main benefits harder to identify quickly.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1488" y="3647582"/>
            <a:ext cx="962006" cy="332184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3AFC5">
                    <a:alpha val="7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 SCAN VALUE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562081" y="3647582"/>
            <a:ext cx="962034" cy="332184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3AFC5">
                    <a:alpha val="7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REPEATED WORDING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652703" y="3647582"/>
            <a:ext cx="962034" cy="332184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3AFC5">
                    <a:alpha val="7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WEAK HIERARCHY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44529" y="1366940"/>
            <a:ext cx="4227984" cy="3270665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444529" y="1366940"/>
            <a:ext cx="4227984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444529" y="4630462"/>
            <a:ext cx="4227984" cy="7144"/>
          </a:xfrm>
          <a:prstGeom prst="rect">
            <a:avLst/>
          </a:prstGeom>
          <a:solidFill>
            <a:srgbClr val="B3F4FF"/>
          </a:solidFill>
          <a:ln/>
        </p:spPr>
      </p:sp>
      <p:sp>
        <p:nvSpPr>
          <p:cNvPr id="20" name="Text 17"/>
          <p:cNvSpPr/>
          <p:nvPr/>
        </p:nvSpPr>
        <p:spPr>
          <a:xfrm>
            <a:off x="4444529" y="1538390"/>
            <a:ext cx="422798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AFTER: STRUCTURED POINTS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444529" y="2029523"/>
            <a:ext cx="10715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STRUCTURE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87541" y="1928813"/>
            <a:ext cx="27574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Wall-of-text content becomes focused </a:t>
            </a: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statements </a:t>
            </a: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are easier to scan.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444529" y="2551016"/>
            <a:ext cx="10715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ANCHORS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87541" y="2450306"/>
            <a:ext cx="27574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Bold lead terms guide attention </a:t>
            </a: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</a:t>
            </a: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supporting explanation appears.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444529" y="3089616"/>
            <a:ext cx="10715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FLOW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87541" y="2897488"/>
            <a:ext cx="27574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idea stands apart, creating a </a:t>
            </a: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clearer sequence </a:t>
            </a: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architecture to </a:t>
            </a: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benefits.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444529" y="3645350"/>
            <a:ext cx="10715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EMPHASIS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87541" y="3453222"/>
            <a:ext cx="27574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advantages become visible without forcing the reader to parse every sentence.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444529" y="4187549"/>
            <a:ext cx="4000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444529" y="4187549"/>
            <a:ext cx="4000500" cy="14288"/>
          </a:xfrm>
          <a:prstGeom prst="rect">
            <a:avLst/>
          </a:prstGeom>
          <a:solidFill>
            <a:srgbClr val="5CFFB1"/>
          </a:solidFill>
          <a:ln/>
        </p:spPr>
      </p:sp>
      <p:sp>
        <p:nvSpPr>
          <p:cNvPr id="31" name="Text 28"/>
          <p:cNvSpPr/>
          <p:nvPr/>
        </p:nvSpPr>
        <p:spPr>
          <a:xfrm>
            <a:off x="4444529" y="4230412"/>
            <a:ext cx="2137656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PRESENTATION-READY CLARITY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582184" y="4257201"/>
            <a:ext cx="186284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00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 / UNDERSTAND / RETAIN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71488" y="4794768"/>
            <a:ext cx="6429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Improvement made:</a:t>
            </a:r>
            <a:r>
              <a:rPr lang="en-US" sz="12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readability now supports the argument instead of </a:t>
            </a:r>
            <a:r>
              <a:rPr lang="en-US" sz="12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competing with it.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336045" y="4931392"/>
            <a:ext cx="133646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2" kern="0" dirty="0">
                <a:solidFill>
                  <a:srgbClr val="00D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EDITORIAL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28613"/>
            <a:ext cx="82010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CFFB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MESSAGING REFINEMENT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1488" y="537567"/>
            <a:ext cx="8201025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Language Now Feels Professional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71488" y="924027"/>
            <a:ext cx="64293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copy shifts from repetitive constraints to confident, benefit-led positioning that explains why the architecture matters.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1488" y="1438377"/>
            <a:ext cx="2366004" cy="1982000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1488" y="1438377"/>
            <a:ext cx="2366004" cy="14288"/>
          </a:xfrm>
          <a:prstGeom prst="rect">
            <a:avLst/>
          </a:prstGeom>
          <a:solidFill>
            <a:srgbClr val="47E4FF"/>
          </a:solidFill>
          <a:ln/>
        </p:spPr>
      </p:sp>
      <p:sp>
        <p:nvSpPr>
          <p:cNvPr id="8" name="Text 5"/>
          <p:cNvSpPr/>
          <p:nvPr/>
        </p:nvSpPr>
        <p:spPr>
          <a:xfrm>
            <a:off x="471488" y="1595540"/>
            <a:ext cx="236600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BEFORE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71488" y="1847357"/>
            <a:ext cx="2214563" cy="432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Repetition made the idea feel limited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1488" y="2407974"/>
            <a:ext cx="2366004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“Unlimited users” repeated without nuance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1488" y="2746297"/>
            <a:ext cx="236600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“No backend” framed as absence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1488" y="3067766"/>
            <a:ext cx="2366004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“No login” described only as a missing step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80379" y="1438377"/>
            <a:ext cx="2726038" cy="1948290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080379" y="1438377"/>
            <a:ext cx="2726038" cy="14288"/>
          </a:xfrm>
          <a:prstGeom prst="rect">
            <a:avLst/>
          </a:prstGeom>
          <a:solidFill>
            <a:srgbClr val="5CFFB1"/>
          </a:solidFill>
          <a:ln/>
        </p:spPr>
      </p:sp>
      <p:sp>
        <p:nvSpPr>
          <p:cNvPr id="15" name="Text 12"/>
          <p:cNvSpPr/>
          <p:nvPr/>
        </p:nvSpPr>
        <p:spPr>
          <a:xfrm>
            <a:off x="3080379" y="1595540"/>
            <a:ext cx="272603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AFTER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080379" y="1847357"/>
            <a:ext cx="2214563" cy="432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Varied phrasing adds authority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80379" y="2489485"/>
            <a:ext cx="1185863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Infinite scalability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080379" y="2810954"/>
            <a:ext cx="817959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Zero friction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080379" y="3132423"/>
            <a:ext cx="850106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Total privacy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49305" y="1438377"/>
            <a:ext cx="2623179" cy="2285721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049305" y="1438377"/>
            <a:ext cx="2623179" cy="14288"/>
          </a:xfrm>
          <a:prstGeom prst="rect">
            <a:avLst/>
          </a:prstGeom>
          <a:solidFill>
            <a:srgbClr val="AEC3D4"/>
          </a:solidFill>
          <a:ln/>
        </p:spPr>
      </p:sp>
      <p:sp>
        <p:nvSpPr>
          <p:cNvPr id="22" name="Text 19"/>
          <p:cNvSpPr/>
          <p:nvPr/>
        </p:nvSpPr>
        <p:spPr>
          <a:xfrm>
            <a:off x="6049305" y="1595540"/>
            <a:ext cx="262317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93AFC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POSITIONING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049305" y="1847357"/>
            <a:ext cx="2214563" cy="432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4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architecture reads as intentional strategy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049305" y="2407974"/>
            <a:ext cx="2623179" cy="586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049305" y="2407974"/>
            <a:ext cx="2623179" cy="7144"/>
          </a:xfrm>
          <a:prstGeom prst="rect">
            <a:avLst/>
          </a:prstGeom>
          <a:solidFill>
            <a:srgbClr val="B1FFDA"/>
          </a:solidFill>
          <a:ln/>
        </p:spPr>
      </p:sp>
      <p:sp>
        <p:nvSpPr>
          <p:cNvPr id="26" name="Text 23"/>
          <p:cNvSpPr/>
          <p:nvPr/>
        </p:nvSpPr>
        <p:spPr>
          <a:xfrm>
            <a:off x="6049305" y="2507986"/>
            <a:ext cx="8715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BENEFIT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063718" y="2493699"/>
            <a:ext cx="160876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Constraints are reframed as operational and user advantages.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49305" y="3116042"/>
            <a:ext cx="2623179" cy="586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049305" y="3116042"/>
            <a:ext cx="2623179" cy="7144"/>
          </a:xfrm>
          <a:prstGeom prst="rect">
            <a:avLst/>
          </a:prstGeom>
          <a:solidFill>
            <a:srgbClr val="B1FFDA"/>
          </a:solidFill>
          <a:ln/>
        </p:spPr>
      </p:sp>
      <p:sp>
        <p:nvSpPr>
          <p:cNvPr id="30" name="Text 27"/>
          <p:cNvSpPr/>
          <p:nvPr/>
        </p:nvSpPr>
        <p:spPr>
          <a:xfrm>
            <a:off x="6049305" y="3216055"/>
            <a:ext cx="8715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CLARITY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063718" y="3201767"/>
            <a:ext cx="160876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phrase carries a distinct role in the product story.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1488" y="3957275"/>
            <a:ext cx="4493754" cy="44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400" b="1" spc="-1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Professional language</a:t>
            </a:r>
            <a:r>
              <a:rPr lang="en-US" sz="14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turns a simple technical </a:t>
            </a:r>
            <a:r>
              <a:rPr lang="en-US" sz="14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setup into a stronger product narrative.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51004" y="3912570"/>
            <a:ext cx="3321509" cy="53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revised flow emphasizes outcomes first, then uses the architecture as proof of those outcomes.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274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488" y="335756"/>
            <a:ext cx="82010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CFFB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FINAL PRODUCT POSITIONING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1488" y="544711"/>
            <a:ext cx="8201025" cy="31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Final Positioning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71488" y="931171"/>
            <a:ext cx="6643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architecture positions the product as lightweight, scalable, privacy-first, and immediately accessible.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1488" y="1645546"/>
            <a:ext cx="8201025" cy="2378869"/>
          </a:xfrm>
          <a:prstGeom prst="rect">
            <a:avLst/>
          </a:prstGeom>
          <a:solidFill>
            <a:srgbClr val="07111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1488" y="1645546"/>
            <a:ext cx="8201025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Shape 5"/>
          <p:cNvSpPr/>
          <p:nvPr/>
        </p:nvSpPr>
        <p:spPr>
          <a:xfrm>
            <a:off x="471488" y="4017271"/>
            <a:ext cx="8201025" cy="7144"/>
          </a:xfrm>
          <a:prstGeom prst="rect">
            <a:avLst/>
          </a:prstGeom>
          <a:solidFill>
            <a:srgbClr val="ADF3FF"/>
          </a:solidFill>
          <a:ln/>
        </p:spPr>
      </p:sp>
      <p:sp>
        <p:nvSpPr>
          <p:cNvPr id="9" name="Text 6"/>
          <p:cNvSpPr/>
          <p:nvPr/>
        </p:nvSpPr>
        <p:spPr>
          <a:xfrm>
            <a:off x="471488" y="1845571"/>
            <a:ext cx="19002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/ STATIC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1488" y="2149180"/>
            <a:ext cx="157162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35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Static is strategic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1488" y="2486053"/>
            <a:ext cx="1700213" cy="51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frontend-only React app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keeps the product </a:t>
            </a:r>
            <a:r>
              <a:rPr lang="en-US" sz="9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simple, fast, and resilient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571750" y="1845571"/>
            <a:ext cx="19002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/ PRIVACY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571750" y="2149180"/>
            <a:ext cx="1571625" cy="416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35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Privacy is automatic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571750" y="2694338"/>
            <a:ext cx="1700213" cy="689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browser sessions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avoid unnecessary </a:t>
            </a:r>
            <a:r>
              <a:rPr lang="en-US" sz="9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collection and backend exposure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72013" y="1845571"/>
            <a:ext cx="19002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/ SCALE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72013" y="2149180"/>
            <a:ext cx="157162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35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Scale is efficient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672013" y="2486053"/>
            <a:ext cx="1700213" cy="689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Independent sessions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reduce pressure on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 because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interactions run </a:t>
            </a:r>
            <a:r>
              <a:rPr lang="en-US" sz="9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locally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772275" y="1845571"/>
            <a:ext cx="19002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 / ACCESS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72275" y="2149180"/>
            <a:ext cx="1571625" cy="416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350" b="1" spc="-1" kern="0" dirty="0">
                <a:solidFill>
                  <a:srgbClr val="EAF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 value is immediate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72275" y="2694338"/>
            <a:ext cx="1700213" cy="689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login, no waiting, and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unnecessary setup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mean users reach the 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experience </a:t>
            </a:r>
            <a:r>
              <a:rPr lang="en-US" sz="900" b="1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 once</a:t>
            </a:r>
            <a:r>
              <a:rPr lang="en-US" sz="950" dirty="0">
                <a:solidFill>
                  <a:srgbClr val="93AF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1488" y="4606630"/>
            <a:ext cx="37147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5CFF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TAKEAWAY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29138" y="4341893"/>
            <a:ext cx="4143375" cy="879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900" b="1" spc="-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static React product can </a:t>
            </a:r>
            <a:r>
              <a:rPr lang="en-US" sz="1900" b="1" spc="-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deliver </a:t>
            </a:r>
            <a:r>
              <a:rPr lang="en-US" sz="1900" b="1" spc="-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maximum accessibility</a:t>
            </a:r>
            <a:r>
              <a:rPr lang="en-US" sz="1900" b="1" spc="-1" kern="0" dirty="0">
                <a:solidFill>
                  <a:srgbClr val="00D9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with minimal infrastructure.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2026-05-19T21:13:58Z</dcterms:created>
  <dcterms:modified xsi:type="dcterms:W3CDTF">2026-05-19T21:13:58Z</dcterms:modified>
</cp:coreProperties>
</file>